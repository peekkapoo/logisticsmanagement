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AHP weight</c:v>
                </c:pt>
              </c:strCache>
            </c:strRef>
          </c:tx>
          <c:spPr>
            <a:solidFill>
              <a:srgbClr val="F0A63C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A6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0A6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Price</c:v>
                  </c:pt>
                  <c:pt idx="1">
                    <c:v>CPU</c:v>
                  </c:pt>
                  <c:pt idx="2">
                    <c:v>SSD</c:v>
                  </c:pt>
                  <c:pt idx="3">
                    <c:v>RAM</c:v>
                  </c:pt>
                  <c:pt idx="4">
                    <c:v>Brand</c:v>
                  </c:pt>
                  <c:pt idx="5">
                    <c:v>Size / weight</c:v>
                  </c:pt>
                  <c:pt idx="6">
                    <c:v>Battery life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0.3491</c:v>
                </c:pt>
                <c:pt idx="1">
                  <c:v>0.2769</c:v>
                </c:pt>
                <c:pt idx="2">
                  <c:v>0.1592</c:v>
                </c:pt>
                <c:pt idx="3">
                  <c:v>0.1201</c:v>
                </c:pt>
                <c:pt idx="4">
                  <c:v>0.043</c:v>
                </c:pt>
                <c:pt idx="5">
                  <c:v>0.0258</c:v>
                </c:pt>
                <c:pt idx="6">
                  <c:v>0.0258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200" u="none">
                  <a:solidFill>
                    <a:srgbClr val="0F1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622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A"/>
        </a:solidFill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Closeness coefficient (Ci)</c:v>
                </c:pt>
              </c:strCache>
            </c:strRef>
          </c:tx>
          <c:spPr>
            <a:solidFill>
              <a:srgbClr val="2E6B9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0F1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E6B9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0A63C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Lenovo ThinkPad X1 Carbon Gen 14 Aura</c:v>
                  </c:pt>
                  <c:pt idx="1">
                    <c:v>Lenovo ThinkPad T14 Gen 7</c:v>
                  </c:pt>
                  <c:pt idx="2">
                    <c:v>Lenovo ThinkPad X1 Carbon Gen 13 Aura</c:v>
                  </c:pt>
                  <c:pt idx="3">
                    <c:v>Lenovo ThinkPad X9 15 Aura Ed. (2025)</c:v>
                  </c:pt>
                  <c:pt idx="4">
                    <c:v>Lenovo ThinkPad X1 Carbon Gen 12</c:v>
                  </c:pt>
                  <c:pt idx="5">
                    <c:v>Acer Aspire 5</c:v>
                  </c:pt>
                  <c:pt idx="6">
                    <c:v>Asus ExpertBook P5</c:v>
                  </c:pt>
                  <c:pt idx="7">
                    <c:v>Apple MacBook Air M4</c:v>
                  </c:pt>
                  <c:pt idx="8">
                    <c:v>HP EliteBook Ultra G1i</c:v>
                  </c:pt>
                  <c:pt idx="9">
                    <c:v>Apple MacBook Air M5</c:v>
                  </c:pt>
                  <c:pt idx="10">
                    <c:v>Dell 14 Premium (XPS 14 2026)</c:v>
                  </c:pt>
                  <c:pt idx="11">
                    <c:v>Lenovo ThinkPad T14 Gen 6 (AMD)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0.3803</c:v>
                </c:pt>
                <c:pt idx="1">
                  <c:v>0.414</c:v>
                </c:pt>
                <c:pt idx="2">
                  <c:v>0.517</c:v>
                </c:pt>
                <c:pt idx="3">
                  <c:v>0.5416</c:v>
                </c:pt>
                <c:pt idx="4">
                  <c:v>0.5444</c:v>
                </c:pt>
                <c:pt idx="5">
                  <c:v>0.5608</c:v>
                </c:pt>
                <c:pt idx="6">
                  <c:v>0.5621</c:v>
                </c:pt>
                <c:pt idx="7">
                  <c:v>0.5868</c:v>
                </c:pt>
                <c:pt idx="8">
                  <c:v>0.5901</c:v>
                </c:pt>
                <c:pt idx="9">
                  <c:v>0.6039</c:v>
                </c:pt>
                <c:pt idx="10">
                  <c:v>0.6046</c:v>
                </c:pt>
                <c:pt idx="11">
                  <c:v>0.6152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950" u="none">
                  <a:solidFill>
                    <a:srgbClr val="0F1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2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A"/>
        </a:solidFill>
        <a:ln>
          <a:noFill/>
        </a:ln>
        <a:effectLst/>
      </c:spPr>
    </c:plotArea>
    <c:plotVisOnly val="1"/>
    <c:dispBlanksAs val="span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6284F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0" y="0"/>
            <a:ext cx="54864" cy="6858000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777240"/>
            <a:ext cx="1463040" cy="14630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D:/LogManagement/LogoNguyenban_UFM2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514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FINANCE - MARKETING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Commerce and Tourism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051560" y="3383280"/>
            <a:ext cx="1828800" cy="0"/>
          </a:xfrm>
          <a:prstGeom prst="line">
            <a:avLst/>
          </a:prstGeom>
          <a:noFill/>
          <a:ln w="19050">
            <a:solidFill>
              <a:srgbClr val="F0A6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611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Management
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Assignment Report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5989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Chi Minh City - July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34840" y="14173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DECISION MODEL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434840" y="1828800"/>
            <a:ext cx="7223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Selection for Office Workers in Vietnam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434840" y="35204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criteria model with the Analytic Hierarchy Process (AHP) and ranking real laptop alternatives with TOPSIS.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434840" y="4343400"/>
            <a:ext cx="6858000" cy="0"/>
          </a:xfrm>
          <a:prstGeom prst="line">
            <a:avLst/>
          </a:prstGeom>
          <a:noFill/>
          <a:ln w="12700">
            <a:solidFill>
              <a:srgbClr val="2B3E6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34840" y="4572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34840" y="4892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Vu Quoc Trung   2321002610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Gia Lap   2321002363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Manh Hieu   2321002325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863840" y="4892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 Vo Khanh Hung   2321002338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Thuy Duong   2321002282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34840" y="6172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Assoc. Prof. Nong Thi Nhu Mai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Three-Stage Research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16052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2151126"/>
            <a:ext cx="452628" cy="452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926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Building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84048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synthesis, 5 expert interviews, and an 84-respondent screening survey narrow 14 candidate criteria to 7 retained ones.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5349240"/>
            <a:ext cx="27889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5468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RQ1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995928" y="34975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297680" y="1691640"/>
            <a:ext cx="34290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97680" y="1691640"/>
            <a:ext cx="82296" cy="416052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0" y="1965960"/>
            <a:ext cx="822960" cy="8229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166" y="2151126"/>
            <a:ext cx="452628" cy="4526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17720" y="2926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AHP Weighting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4617720" y="384048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two-level hierarchy and one representative expert's pairwise judgements yield consistency-checked criteria weights.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17720" y="5349240"/>
            <a:ext cx="27889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17720" y="5468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RQ2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744968" y="349758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046720" y="1691640"/>
            <a:ext cx="34290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046720" y="1691640"/>
            <a:ext cx="82296" cy="416052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26" name="Shape 22"/>
          <p:cNvSpPr/>
          <p:nvPr/>
        </p:nvSpPr>
        <p:spPr>
          <a:xfrm>
            <a:off x="8321040" y="1965960"/>
            <a:ext cx="822960" cy="822960"/>
          </a:xfrm>
          <a:prstGeom prst="ellipse">
            <a:avLst/>
          </a:prstGeom>
          <a:solidFill>
            <a:srgbClr val="0F1B3C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206" y="2151126"/>
            <a:ext cx="452628" cy="4526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366760" y="2926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32104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TOPSIS Ranking</a:t>
            </a:r>
            <a:endParaRPr lang="en-US" sz="1900" dirty="0"/>
          </a:p>
        </p:txBody>
      </p:sp>
      <p:sp>
        <p:nvSpPr>
          <p:cNvPr id="30" name="Text 25"/>
          <p:cNvSpPr/>
          <p:nvPr/>
        </p:nvSpPr>
        <p:spPr>
          <a:xfrm>
            <a:off x="8366760" y="3840480"/>
            <a:ext cx="2788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real laptop candidates, priced from Amazon.com, are ranked with the AHP weights to recommend a winner.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366760" y="5349240"/>
            <a:ext cx="27889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366760" y="5468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RQ3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Research Model  ·  Chapter 3, Methodology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Laptop Is a Genuine Multi-Criteria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989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office worker in Vietnam replacing a laptop faces attributes measured on different scales, price, processor performance, memory, storage, weight, battery, and brand, that pull against one another rather than varying independently.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price constrains hardware capability; a bigger battery adds weight. More configurations on the market do not make the choice more coherent — they make an explicit decision model more necessary.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5989320" cy="105156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709160"/>
            <a:ext cx="73152" cy="1051560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8463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treated as one weighted cost criterion among several, not as a pre-fixed budget ceiling that filters candidates before analysis begins.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03720" y="1691640"/>
            <a:ext cx="47548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78040" y="1892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COMPETING ATTRIBUTES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2331720"/>
            <a:ext cx="1988820" cy="8412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79208" y="2496312"/>
            <a:ext cx="512064" cy="512064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4" y="262432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0" y="2331720"/>
            <a:ext cx="11201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395460" y="2331720"/>
            <a:ext cx="1988820" cy="8412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5" name="Shape 12"/>
          <p:cNvSpPr/>
          <p:nvPr/>
        </p:nvSpPr>
        <p:spPr>
          <a:xfrm>
            <a:off x="9596628" y="2496312"/>
            <a:ext cx="512064" cy="512064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644" y="2624328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172700" y="2331720"/>
            <a:ext cx="11201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178040" y="3355848"/>
            <a:ext cx="1988820" cy="8412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9" name="Shape 15"/>
          <p:cNvSpPr/>
          <p:nvPr/>
        </p:nvSpPr>
        <p:spPr>
          <a:xfrm>
            <a:off x="7379208" y="3520440"/>
            <a:ext cx="512064" cy="512064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4" y="3648456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55280" y="3355848"/>
            <a:ext cx="11201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395460" y="3355848"/>
            <a:ext cx="1988820" cy="8412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3" name="Shape 18"/>
          <p:cNvSpPr/>
          <p:nvPr/>
        </p:nvSpPr>
        <p:spPr>
          <a:xfrm>
            <a:off x="9596628" y="3520440"/>
            <a:ext cx="512064" cy="512064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364845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172700" y="3355848"/>
            <a:ext cx="11201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178040" y="4379976"/>
            <a:ext cx="1988820" cy="8412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7" name="Shape 21"/>
          <p:cNvSpPr/>
          <p:nvPr/>
        </p:nvSpPr>
        <p:spPr>
          <a:xfrm>
            <a:off x="7379208" y="4544568"/>
            <a:ext cx="512064" cy="512064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467258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955280" y="4379976"/>
            <a:ext cx="11201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9395460" y="4379976"/>
            <a:ext cx="1988820" cy="8412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1" name="Shape 24"/>
          <p:cNvSpPr/>
          <p:nvPr/>
        </p:nvSpPr>
        <p:spPr>
          <a:xfrm>
            <a:off x="9596628" y="4544568"/>
            <a:ext cx="512064" cy="512064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4644" y="467258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172700" y="4379976"/>
            <a:ext cx="11201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7178040" y="5404104"/>
            <a:ext cx="4206240" cy="84124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5" name="Shape 27"/>
          <p:cNvSpPr/>
          <p:nvPr/>
        </p:nvSpPr>
        <p:spPr>
          <a:xfrm>
            <a:off x="7379208" y="5568696"/>
            <a:ext cx="512064" cy="512064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7224" y="5696712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55280" y="54041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9281160" y="540410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after-sales proxy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1, Introduction  ·  Problem Statement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Proposed Research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874520" cy="146304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97380"/>
            <a:ext cx="777240" cy="77724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20916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95351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synthesis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58368" y="3657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expert refinement (n=5)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423160" y="3264408"/>
            <a:ext cx="4304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853614" y="2788920"/>
            <a:ext cx="1874520" cy="146304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2254" y="1897380"/>
            <a:ext cx="777240" cy="77724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564" y="20916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3342" y="295351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screening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63342" y="3657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≥ 3.0 retained (N=84)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28134" y="3264408"/>
            <a:ext cx="4304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158588" y="2788920"/>
            <a:ext cx="1874520" cy="146304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07228" y="1897380"/>
            <a:ext cx="777240" cy="77724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538" y="209169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68316" y="295351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+ CR check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268316" y="3657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expert (n=1)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033108" y="3264408"/>
            <a:ext cx="4304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463561" y="2788920"/>
            <a:ext cx="1874520" cy="146304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2201" y="1897380"/>
            <a:ext cx="777240" cy="77724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511" y="209169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73289" y="295351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identification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573289" y="3657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review outlets → 12 laptops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38081" y="3264408"/>
            <a:ext cx="43045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9768535" y="2788920"/>
            <a:ext cx="1874520" cy="146304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17175" y="1897380"/>
            <a:ext cx="777240" cy="77724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1485" y="2091690"/>
            <a:ext cx="388620" cy="3886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78263" y="2953512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TOPSIS ranking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878263" y="365760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scores + final rank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48640" y="4480560"/>
            <a:ext cx="4179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answers RQ1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5158588" y="4480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answers RQ2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7463561" y="4480560"/>
            <a:ext cx="41794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answers RQ3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stages are strictly ordered: Stage 2's pairwise comparison cannot be designed until the criteria set is fixed, and Stage 3's ranking is meaningful only once the AHP weights pass the consistency check.</a:t>
            </a:r>
            <a:endParaRPr lang="en-US" sz="1350" dirty="0"/>
          </a:p>
        </p:txBody>
      </p:sp>
      <p:sp>
        <p:nvSpPr>
          <p:cNvPr id="37" name="Shape 30"/>
          <p:cNvSpPr/>
          <p:nvPr/>
        </p:nvSpPr>
        <p:spPr>
          <a:xfrm>
            <a:off x="548640" y="5440680"/>
            <a:ext cx="2567864" cy="82296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13232" y="5532120"/>
            <a:ext cx="223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2"/>
          <p:cNvSpPr/>
          <p:nvPr/>
        </p:nvSpPr>
        <p:spPr>
          <a:xfrm>
            <a:off x="713232" y="5989320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interviewees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3390824" y="5440680"/>
            <a:ext cx="2567864" cy="82296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3555416" y="5532120"/>
            <a:ext cx="223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2400" dirty="0"/>
          </a:p>
        </p:txBody>
      </p:sp>
      <p:sp>
        <p:nvSpPr>
          <p:cNvPr id="42" name="Text 35"/>
          <p:cNvSpPr/>
          <p:nvPr/>
        </p:nvSpPr>
        <p:spPr>
          <a:xfrm>
            <a:off x="3555416" y="5989320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respondents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6233008" y="5440680"/>
            <a:ext cx="2567864" cy="82296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6397600" y="5532120"/>
            <a:ext cx="223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0.0483</a:t>
            </a:r>
            <a:endParaRPr lang="en-US" sz="2400" dirty="0"/>
          </a:p>
        </p:txBody>
      </p:sp>
      <p:sp>
        <p:nvSpPr>
          <p:cNvPr id="45" name="Text 38"/>
          <p:cNvSpPr/>
          <p:nvPr/>
        </p:nvSpPr>
        <p:spPr>
          <a:xfrm>
            <a:off x="6397600" y="5989320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consistency ratio (CR)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9075191" y="5440680"/>
            <a:ext cx="2567864" cy="82296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9239783" y="5532120"/>
            <a:ext cx="223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48" name="Text 41"/>
          <p:cNvSpPr/>
          <p:nvPr/>
        </p:nvSpPr>
        <p:spPr>
          <a:xfrm>
            <a:off x="9239783" y="5989320"/>
            <a:ext cx="223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laptop candidates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  ·  The Proposed Research Model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CRITERIA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14 Candidates to 7 Retained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06728" y="1783080"/>
            <a:ext cx="877824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06728" y="1783080"/>
            <a:ext cx="1005840" cy="1207008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6" name="Text 4"/>
          <p:cNvSpPr/>
          <p:nvPr/>
        </p:nvSpPr>
        <p:spPr>
          <a:xfrm>
            <a:off x="1706728" y="1783080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895448" y="189280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Literature-derived candidate criteria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95448" y="231343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across six thematic groups (economic, hardware, design, portability, ecosystem, trust)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21528" y="3008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38248" y="3300984"/>
            <a:ext cx="731520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8248" y="3300984"/>
            <a:ext cx="1005840" cy="1207008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12" name="Text 10"/>
          <p:cNvSpPr/>
          <p:nvPr/>
        </p:nvSpPr>
        <p:spPr>
          <a:xfrm>
            <a:off x="2438248" y="3300984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26968" y="341071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Expert-revised set (5-expert panel)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6968" y="383133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GPU removed (cost without office-work benefit); Software compatibility added (Windows lock-in in Vietnamese offices)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21528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61208" y="4818888"/>
            <a:ext cx="5669280" cy="1207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1208" y="4818888"/>
            <a:ext cx="1005840" cy="1207008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18" name="Text 16"/>
          <p:cNvSpPr/>
          <p:nvPr/>
        </p:nvSpPr>
        <p:spPr>
          <a:xfrm>
            <a:off x="3261208" y="4818888"/>
            <a:ext cx="1005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449928" y="49286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Survey-retained set (N = 84 respondents)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49928" y="534924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Likert screening; pre-committed retention rule: sample mean ≥ 3.0 (scale midpoint)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 ·  Criteria Transition  ·  5 experts, purposively sampled across the procurement process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Criteria Answer RQ1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6880" y="1783080"/>
            <a:ext cx="26060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0716" y="1956816"/>
            <a:ext cx="658368" cy="658368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724" y="211482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832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8320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algn="ctr"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8320" y="3383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07512" y="1783080"/>
            <a:ext cx="26060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1348" y="1956816"/>
            <a:ext cx="658368" cy="658368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356" y="2114824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8952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98952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algn="ctr"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498952" y="3383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78144" y="1783080"/>
            <a:ext cx="26060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51980" y="1956816"/>
            <a:ext cx="658368" cy="658368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988" y="2114824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9584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9584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algn="ctr"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3.96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69584" y="3383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8948776" y="1783080"/>
            <a:ext cx="26060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22612" y="1956816"/>
            <a:ext cx="658368" cy="658368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620" y="2114824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40216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Storage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040216" y="3063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algn="ctr"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3.89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040216" y="3383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36880" y="3977640"/>
            <a:ext cx="26060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610716" y="4151376"/>
            <a:ext cx="658368" cy="658368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724" y="4309384"/>
            <a:ext cx="342351" cy="34235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8320" y="4892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28320" y="5257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algn="ctr"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28320" y="5577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407512" y="3977640"/>
            <a:ext cx="26060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381348" y="4151376"/>
            <a:ext cx="658368" cy="658368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356" y="4309384"/>
            <a:ext cx="342351" cy="34235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498952" y="4892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Weight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3498952" y="5257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algn="ctr"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3.96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498952" y="5577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178144" y="3977640"/>
            <a:ext cx="26060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151980" y="4151376"/>
            <a:ext cx="658368" cy="658368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9988" y="4309384"/>
            <a:ext cx="342351" cy="342351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269584" y="4892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</a:t>
            </a:r>
            <a:endParaRPr lang="en-US" sz="1400" dirty="0"/>
          </a:p>
        </p:txBody>
      </p:sp>
      <p:sp>
        <p:nvSpPr>
          <p:cNvPr id="44" name="Text 35"/>
          <p:cNvSpPr/>
          <p:nvPr/>
        </p:nvSpPr>
        <p:spPr>
          <a:xfrm>
            <a:off x="6269584" y="5257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pPr algn="ctr"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4.02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6269584" y="5577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8948776" y="3977640"/>
            <a:ext cx="2606040" cy="196596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47" name="Text 38"/>
          <p:cNvSpPr/>
          <p:nvPr/>
        </p:nvSpPr>
        <p:spPr>
          <a:xfrm>
            <a:off x="9131656" y="4160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threshold: mean ≥ 3.0</a:t>
            </a:r>
            <a:endParaRPr lang="en-US" sz="1150" dirty="0"/>
          </a:p>
        </p:txBody>
      </p:sp>
      <p:sp>
        <p:nvSpPr>
          <p:cNvPr id="48" name="Text 39"/>
          <p:cNvSpPr/>
          <p:nvPr/>
        </p:nvSpPr>
        <p:spPr>
          <a:xfrm>
            <a:off x="9131656" y="46634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retained mean (3.79) sits almost a full point above the highest removed mean (2.88, Keyboard).</a:t>
            </a:r>
            <a:endParaRPr lang="en-US" sz="1050" dirty="0"/>
          </a:p>
        </p:txBody>
      </p:sp>
      <p:sp>
        <p:nvSpPr>
          <p:cNvPr id="49" name="Text 4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4.2  ·  Survey-Based Screening Results  ·  N = 84, all responses complete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AHP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Weighting the Seven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TWO-LEVEL HIERARCHY ONLY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45920" y="2377440"/>
            <a:ext cx="3291840" cy="59436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377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Select the most suitable office laptop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971800"/>
            <a:ext cx="0" cy="320040"/>
          </a:xfrm>
          <a:prstGeom prst="line">
            <a:avLst/>
          </a:prstGeom>
          <a:noFill/>
          <a:ln w="1905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383280"/>
            <a:ext cx="1152144" cy="50292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832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84832" y="3383280"/>
            <a:ext cx="1152144" cy="50292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33832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46704" y="3383280"/>
            <a:ext cx="1152144" cy="50292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14" name="Text 12"/>
          <p:cNvSpPr/>
          <p:nvPr/>
        </p:nvSpPr>
        <p:spPr>
          <a:xfrm>
            <a:off x="3346704" y="33832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08576" y="3383280"/>
            <a:ext cx="1152144" cy="50292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338328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4023360"/>
            <a:ext cx="1152144" cy="50292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0233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84832" y="4023360"/>
            <a:ext cx="1152144" cy="50292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20" name="Text 18"/>
          <p:cNvSpPr/>
          <p:nvPr/>
        </p:nvSpPr>
        <p:spPr>
          <a:xfrm>
            <a:off x="2084832" y="40233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Size/Wt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46704" y="4023360"/>
            <a:ext cx="1152144" cy="50292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22" name="Text 20"/>
          <p:cNvSpPr/>
          <p:nvPr/>
        </p:nvSpPr>
        <p:spPr>
          <a:xfrm>
            <a:off x="3346704" y="40233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are NOT compared in AHP — the 12 candidate laptops enter only in Stage 3 (TOPSIS).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23660" y="2080260"/>
            <a:ext cx="685800" cy="685800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110" y="2251710"/>
            <a:ext cx="342900" cy="3429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26948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representative expert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269480" y="22860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judgements elicited from one expert on the interview panel, chosen for hands-on procurement experience.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355080" y="3063240"/>
            <a:ext cx="53035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23660" y="3525012"/>
            <a:ext cx="685800" cy="685800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3696462"/>
            <a:ext cx="342900" cy="3429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69480" y="3337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Saaty's 9-point scale, 21 judgements</a:t>
            </a:r>
            <a:endParaRPr lang="en-US" sz="1450" dirty="0"/>
          </a:p>
        </p:txBody>
      </p:sp>
      <p:sp>
        <p:nvSpPr>
          <p:cNvPr id="32" name="Text 28"/>
          <p:cNvSpPr/>
          <p:nvPr/>
        </p:nvSpPr>
        <p:spPr>
          <a:xfrm>
            <a:off x="7269480" y="37307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n(n-1)/2 = 21 pairwise comparisons across the 7×7 reciprocal matrix.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355080" y="4507992"/>
            <a:ext cx="53035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423660" y="4969764"/>
            <a:ext cx="685800" cy="68580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110" y="5141214"/>
            <a:ext cx="342900" cy="3429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7269480" y="47823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ratio CR = 0.0483</a:t>
            </a:r>
            <a:endParaRPr lang="en-US" sz="1450" dirty="0"/>
          </a:p>
        </p:txBody>
      </p:sp>
      <p:sp>
        <p:nvSpPr>
          <p:cNvPr id="37" name="Text 32"/>
          <p:cNvSpPr/>
          <p:nvPr/>
        </p:nvSpPr>
        <p:spPr>
          <a:xfrm>
            <a:off x="7269480" y="517550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0.10 acceptance threshold — the judgement set passes and weights are used without re-elicitation.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3.4.2, Stage 2  ·  Analytic Hierarchy Process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and CPU Dominate the Priority Vector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66751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83080"/>
            <a:ext cx="4251960" cy="196596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6" name="Text 3"/>
          <p:cNvSpPr/>
          <p:nvPr/>
        </p:nvSpPr>
        <p:spPr>
          <a:xfrm>
            <a:off x="7406640" y="1947672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0A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62.6%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7726680" y="292608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priority carried by Price + CPU combined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3977640"/>
            <a:ext cx="4251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office-laptop decision is modelled primarily as a trade-off between budget and computing capability, with storage and memory forming a middle tier, and brand, weight, and battery in a low-priority tier holding under 10% combined.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4.2  ·  AHP Weights of the Seven Retained Criteria  ·  CR = 0.0483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Battery-Life Reversal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196596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2331720"/>
            <a:ext cx="1051560" cy="105156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594610"/>
            <a:ext cx="525780" cy="52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1488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383280" y="225856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mean in the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survey (4.02)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4114800"/>
            <a:ext cx="5120640" cy="1965960"/>
          </a:xfrm>
          <a:prstGeom prst="rect">
            <a:avLst/>
          </a:prstGeom>
          <a:solidFill>
            <a:srgbClr val="16284F"/>
          </a:solidFill>
          <a:ln w="12700">
            <a:solidFill>
              <a:srgbClr val="2B3E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5820" y="4572000"/>
            <a:ext cx="1051560" cy="1051560"/>
          </a:xfrm>
          <a:prstGeom prst="ellipse">
            <a:avLst/>
          </a:prstGeom>
          <a:solidFill>
            <a:srgbClr val="2E6B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4834890"/>
            <a:ext cx="525780" cy="5257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43891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3383280" y="4498848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AHP weight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7 criteria (0.0258)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34640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035040" y="1874520"/>
            <a:ext cx="557784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035040" y="1874520"/>
            <a:ext cx="82296" cy="4206240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17" name="Shape 13"/>
          <p:cNvSpPr/>
          <p:nvPr/>
        </p:nvSpPr>
        <p:spPr>
          <a:xfrm>
            <a:off x="6355080" y="2148840"/>
            <a:ext cx="640080" cy="640080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098" y="229285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2148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threshold requirement, not a differentiator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400800" y="29718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mains power is readily available in Vietnamese offices, respondents rate battery life as important in the abstract, but a runtime of 4–7 hours is already sufficient for most office laptops in the candidate pool. Respondents value it highly; the pairwise expert judgement treats it as already satisfied — so it carries almost no power to distinguish among alternatives.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0" y="5532120"/>
            <a:ext cx="48463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0" y="5641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Robustness-checked with the geometric-mean method, which preserves the same ordering of all seven criteria.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4.3, Weight Interpretation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DATA COLLECTION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Candidates, Seven Outlets, One Retail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73152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laptops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08152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across outlets; configuration variants collapsed into one entry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783080"/>
            <a:ext cx="3611880" cy="73152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review outlets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08152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PCMag, Tom's Guide, TechRadar, Laptop Mag, CNET, Wirecutter, RTINGS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118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783080"/>
            <a:ext cx="3611880" cy="73152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9659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36676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source: Amazon.com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66760" y="3081528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2026-07-12; newest international models not yet in VN catalogues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5455768" cy="169164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54380" y="4709160"/>
            <a:ext cx="777240" cy="77724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4903470"/>
            <a:ext cx="388620" cy="3886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91640" y="4453128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→ PassMark benchmark score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691640" y="4873752"/>
            <a:ext cx="4084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Chipset names are not numeric or comparable across brands; PassMark converts them into one performance scale.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87288" y="4251960"/>
            <a:ext cx="5455768" cy="169164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25" name="Shape 22"/>
          <p:cNvSpPr/>
          <p:nvPr/>
        </p:nvSpPr>
        <p:spPr>
          <a:xfrm>
            <a:off x="6393028" y="4709160"/>
            <a:ext cx="777240" cy="77724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338" y="4903470"/>
            <a:ext cx="388620" cy="3886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30288" y="4453128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→ Gartner Q1 2026 market share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7330288" y="4873752"/>
            <a:ext cx="4084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PC shipment share (%): Lenovo 26.5, HP 19.3, Dell 16.5, Apple 10.6, Acer 6.4 — a verifiable, quarterly-disclosed proxy for brand standing.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3.4.3–3.4.4  ·  Alternative Identification &amp; Operationalisation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CHOICE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TOPSIS Instead of AHP for the Alternatives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257800" cy="640080"/>
          </a:xfrm>
          <a:prstGeom prst="rect">
            <a:avLst/>
          </a:prstGeom>
          <a:solidFill>
            <a:srgbClr val="1D4E7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AHP on 12 Alternatives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514600" y="2834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comparisons required per criterion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n(n-1)/2 = 12×11/2 = 66 judgements, for every one of the 7 criteria — 462 total judgements from a human expert. Does not scale well as the candidate set grows.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2578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783080"/>
            <a:ext cx="5257800" cy="640080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78308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TOPSIS on 12 Alternatives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138160" y="283464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attribute values scored directly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84048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candidates × 7 criteria = 84 objective, numeric attribute values (price, benchmark scores, GB, kg, Wh, market share) ranked directly against the AHP weights — tractable at this scale.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30088" y="3474720"/>
            <a:ext cx="731520" cy="731520"/>
          </a:xfrm>
          <a:prstGeom prst="ellipse">
            <a:avLst/>
          </a:prstGeom>
          <a:solidFill>
            <a:srgbClr val="0F1B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0088" y="3474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3.4.3  ·  TOPSIS ranks alternatives directly on measurable data using the AHP weights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TOPSIS Ranking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822960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915400" y="1783080"/>
            <a:ext cx="2743200" cy="274320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6" name="Shape 3"/>
          <p:cNvSpPr/>
          <p:nvPr/>
        </p:nvSpPr>
        <p:spPr>
          <a:xfrm>
            <a:off x="9875520" y="1965960"/>
            <a:ext cx="822960" cy="82296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260" y="21717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5256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098280" y="3154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Lenovo ThinkPad T14 Gen 6 (AMD)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0525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0.6152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915400" y="47548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098280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within 0.011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098280" y="523951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margin separates the leading alternatives — read the top of the list as a short list rather than a strict order.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4.3  ·  TOPSIS Closeness Coefficients of the Twelve Candidate Laptops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Wins, Not Dominance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0" cy="4206240"/>
          </a:xfrm>
          <a:prstGeom prst="rect">
            <a:avLst/>
          </a:prstGeom>
          <a:solidFill>
            <a:srgbClr val="16284F"/>
          </a:solidFill>
          <a:ln w="19050">
            <a:solidFill>
              <a:srgbClr val="F0A6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08860" y="2034540"/>
            <a:ext cx="1051560" cy="105156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750" y="2297430"/>
            <a:ext cx="525780" cy="52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Lenovo ThinkPad T14 Gen 6 (AMD)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$1,100  ·  Ci = 0.6152  ·  Rank 1 of 12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389120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Below-median price among the twelve candidates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Mid-field PassMark CPU score (19,546 points)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Joint-highest Brand score (26.5% share), tied with other Lenovo entries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RAM (16 GB) among the non-Acer candidates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40680" y="1783080"/>
            <a:ext cx="6172200" cy="4206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40680" y="1783080"/>
            <a:ext cx="82296" cy="4206240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12" name="Text 9"/>
          <p:cNvSpPr/>
          <p:nvPr/>
        </p:nvSpPr>
        <p:spPr>
          <a:xfrm>
            <a:off x="5806440" y="205740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single-criterion dominance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806440" y="2697480"/>
            <a:ext cx="5440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top-ranked model does not lead on price, CPU, or RAM alone. It shares its Brand strength with several other Lenovo entries in the set, but pairs that shared strength with a below-median price — and it is that combination, not any single extreme attribute, that produces the most balanced profile across all seven weighted criteria.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06440" y="4389120"/>
            <a:ext cx="544068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45720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extremes confirm the pattern: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candidate (Acer Aspire 5, $395) ranks only 7th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dragged down by the lowest CPU/RAM/storage/brand scores in the field, while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expensive (ThinkPad X1 Carbon Gen 14, $3,499) ranks last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because Price + CPU alone (62.6% of total weight) cannot offset an extreme value on the other.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4.6, TOPSIS Ranking Results  ·  Chapter 5, Discussion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Ad Hoc Choice to a Reproducible Procedure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turns an implicit, ad hoc laptop purchase decision into a reproducible, auditable procedure that a procurement team can re-run as the catalogue changes — from elicited pairwise judgements through a consistency-checked weight vector to a ranking of twelve actual laptop models, with every computational step reported in reproducible form.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94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0100" y="3223260"/>
            <a:ext cx="777240" cy="777240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34175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944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Vietnam-calibrated criteria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83080" y="33375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recedes once mains power is assumed; software compatibility emerges as a Windows lock-in eligibility condition rarely made explicit elsewhere.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743200"/>
            <a:ext cx="5394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9380" y="3223260"/>
            <a:ext cx="777240" cy="777240"/>
          </a:xfrm>
          <a:prstGeom prst="ellipse">
            <a:avLst/>
          </a:prstGeom>
          <a:solidFill>
            <a:srgbClr val="1D4E7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34175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944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reproducible pipeline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452360" y="33375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Elicited judgements → consistency-checked weights → a ranking of 12 real models, every step documented in the appendices.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754880"/>
            <a:ext cx="11064240" cy="141732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5097780"/>
            <a:ext cx="731520" cy="731520"/>
          </a:xfrm>
          <a:prstGeom prst="ellipse">
            <a:avLst/>
          </a:prstGeom>
          <a:solidFill>
            <a:srgbClr val="F0A6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28066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901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737360" y="521208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survey sample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verified as office workers)   ·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Single-expert AHP weighting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an aggregated panel)   · 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sensitivity analysis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conducted on the ranking.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6, Conclusion  ·  Contributions &amp; Limitations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0A63C"/>
          </a:solidFill>
          <a:ln/>
        </p:spPr>
      </p:sp>
      <p:sp>
        <p:nvSpPr>
          <p:cNvPr id="3" name="Shape 1"/>
          <p:cNvSpPr/>
          <p:nvPr/>
        </p:nvSpPr>
        <p:spPr>
          <a:xfrm>
            <a:off x="5090008" y="1188720"/>
            <a:ext cx="2011680" cy="2011680"/>
          </a:xfrm>
          <a:prstGeom prst="ellipse">
            <a:avLst/>
          </a:prstGeom>
          <a:solidFill>
            <a:srgbClr val="16284F"/>
          </a:solidFill>
          <a:ln w="25400">
            <a:solidFill>
              <a:srgbClr val="F0A63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6916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A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24248" y="5029200"/>
            <a:ext cx="2743200" cy="0"/>
          </a:xfrm>
          <a:prstGeom prst="line">
            <a:avLst/>
          </a:prstGeom>
          <a:noFill/>
          <a:ln w="12700">
            <a:solidFill>
              <a:srgbClr val="2B3E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Approach to Laptop Selection for Office Workers in Vietnam  ·  Group 5  ·  Logistics Management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Finance - Marketing  ·  Ho Chi Minh City, July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0029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Hybrid Approach to Laptop Selection for Office Workers in Vietnam</dc:title>
  <dc:subject>PptxGenJS Presentation</dc:subject>
  <dc:creator>Group 5 - Logistics Management</dc:creator>
  <cp:lastModifiedBy>Group 5 - Logistics Management</cp:lastModifiedBy>
  <cp:revision>1</cp:revision>
  <dcterms:created xsi:type="dcterms:W3CDTF">2026-07-12T17:54:49Z</dcterms:created>
  <dcterms:modified xsi:type="dcterms:W3CDTF">2026-07-12T17:54:49Z</dcterms:modified>
</cp:coreProperties>
</file>